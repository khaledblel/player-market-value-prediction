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aleway Ultra-Bold" charset="1" panose="00000000000000000000"/>
      <p:regular r:id="rId18"/>
    </p:embeddedFont>
    <p:embeddedFont>
      <p:font typeface="Poppins Semi-Bold" charset="1" panose="00000700000000000000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Hello everyone, Today, I will be presenting my project on developing a regression model to estimate football players' market values. our aim is to create a data-driven approach for improved accuracy, vital for club strategies and negotiations.</a:t>
            </a:r>
          </a:p>
          <a:p>
            <a:r>
              <a:rPr lang="en-US"/>
              <a:t/>
            </a:r>
          </a:p>
          <a:p>
            <a:r>
              <a:rPr lang="en-US"/>
              <a:t>We will demonstrate how our model enhances objectivity in player valuations, assisting clubs in making informed transfer decisions.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problem matters because transfer decisions involve high financial risk, and valuation is often subjective.</a:t>
            </a:r>
          </a:p>
          <a:p>
            <a:r>
              <a:rPr lang="en-US"/>
              <a:t>A key challenge is that football market values are highly right-skewed: most players are in lower value ranges, while a small elite has extremely high values.</a:t>
            </a:r>
          </a:p>
          <a:p>
            <a:r>
              <a:rPr lang="en-US"/>
              <a:t>So the objective is to build a regression model that handles this skewed distribution and still gives accurate, practical estimates.</a:t>
            </a:r>
          </a:p>
          <a:p>
            <a:r>
              <a:rPr lang="en-US"/>
              <a:t>Success is measured with two metrics: high R2 for explained variance and low MAE in euros for real-world financial error.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For data, I used the Player Scores dataset from Kaggle, with more than 316,000 records from 2003 to 2026.</a:t>
            </a:r>
          </a:p>
          <a:p>
            <a:r>
              <a:rPr lang="en-US"/>
              <a:t>The features include player attributes, club and league information, and both career and recent performance indicators.</a:t>
            </a:r>
          </a:p>
          <a:p>
            <a:r>
              <a:rPr lang="en-US"/>
              <a:t>To avoid temporal leakage, I used a time-based split, with roughly 90 percent for training and 10 percent for testing.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pipeline has three main steps.</a:t>
            </a:r>
          </a:p>
          <a:p>
            <a:r>
              <a:rPr lang="en-US"/>
              <a:t>First, preprocessing: target encoding for high-cardinality categorical variables, one-hot encoding for low-cardinality variables, and scaling for numeric features.</a:t>
            </a:r>
          </a:p>
          <a:p>
            <a:r>
              <a:rPr lang="en-US"/>
              <a:t>Second, model training and tuning with cross-validation.</a:t>
            </a:r>
          </a:p>
          <a:p>
            <a:r>
              <a:rPr lang="en-US"/>
              <a:t>Third, evaluation using R2, RMSE, and MAE, then selecting the best model for deployment.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 compared five models: Ridge, Lasso, Random Forest, LightGBM, and XGBoost.</a:t>
            </a:r>
          </a:p>
          <a:p>
            <a:r>
              <a:rPr lang="en-US"/>
              <a:t>XGBoost achieved the best overall R2 at 0.83,</a:t>
            </a:r>
          </a:p>
          <a:p>
            <a:r>
              <a:rPr lang="en-US"/>
              <a:t>LightGBM was very close, Random Forest was moderate, and linear models were clearly weaker.</a:t>
            </a:r>
          </a:p>
          <a:p>
            <a:r>
              <a:rPr lang="en-US"/>
              <a:t>Based on this comparison, XGBoost was selected as the champion model.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Application Deployed on a Streamlit Cloud Container</a:t>
            </a:r>
          </a:p>
          <a:p>
            <a:r>
              <a:rPr lang="en-US"/>
              <a:t> </a:t>
            </a:r>
          </a:p>
          <a:p>
            <a:r>
              <a:rPr lang="en-US"/>
              <a:t>Users can input player profile, club context, and performance stats, then get an instant market value prediction.</a:t>
            </a:r>
          </a:p>
          <a:p>
            <a:r>
              <a:rPr lang="en-US"/>
              <a:t>This transforms the project from notebook analysis into a practical tool that can be demonstrated and used in real time.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 conclude: first, the project confirms that the xgboost models outperforms linear baselines for this task.</a:t>
            </a:r>
          </a:p>
          <a:p>
            <a:r>
              <a:rPr lang="en-US"/>
              <a:t>Second, time-aware validation is essential for realistic market prediction.</a:t>
            </a:r>
          </a:p>
          <a:p>
            <a:r>
              <a:rPr lang="en-US"/>
              <a:t/>
            </a:r>
          </a:p>
          <a:p>
            <a:r>
              <a:rPr lang="en-US"/>
              <a:t>For next steps, I would add richer contextual features like contract details and injuries,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4600" y="7893579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84352" y="-5341380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034940" y="-830820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1994" y="1105246"/>
            <a:ext cx="461704" cy="408608"/>
          </a:xfrm>
          <a:custGeom>
            <a:avLst/>
            <a:gdLst/>
            <a:ahLst/>
            <a:cxnLst/>
            <a:rect r="r" b="b" t="t" l="l"/>
            <a:pathLst>
              <a:path h="408608" w="461704">
                <a:moveTo>
                  <a:pt x="0" y="0"/>
                </a:moveTo>
                <a:lnTo>
                  <a:pt x="461704" y="0"/>
                </a:lnTo>
                <a:lnTo>
                  <a:pt x="461704" y="408608"/>
                </a:lnTo>
                <a:lnTo>
                  <a:pt x="0" y="4086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00734" y="3128679"/>
            <a:ext cx="3083453" cy="3220317"/>
          </a:xfrm>
          <a:custGeom>
            <a:avLst/>
            <a:gdLst/>
            <a:ahLst/>
            <a:cxnLst/>
            <a:rect r="r" b="b" t="t" l="l"/>
            <a:pathLst>
              <a:path h="3220317" w="3083453">
                <a:moveTo>
                  <a:pt x="0" y="0"/>
                </a:moveTo>
                <a:lnTo>
                  <a:pt x="3083453" y="0"/>
                </a:lnTo>
                <a:lnTo>
                  <a:pt x="3083453" y="3220317"/>
                </a:lnTo>
                <a:lnTo>
                  <a:pt x="0" y="32203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96080" y="3417447"/>
            <a:ext cx="8600409" cy="27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2"/>
              </a:lnSpc>
            </a:pPr>
            <a:r>
              <a:rPr lang="en-US" sz="6726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FOOTBALL PLAYER MARKET VALUE PREDICTION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71614" y="778166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01793" y="8585784"/>
            <a:ext cx="2257507" cy="67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6"/>
              </a:lnSpc>
            </a:pPr>
            <a:r>
              <a:rPr lang="en-US" b="true" sz="1938" spc="-8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Presented By: Khaled BLEL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04131" y="6533859"/>
            <a:ext cx="9079738" cy="156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6"/>
              </a:lnSpc>
              <a:spcBef>
                <a:spcPct val="0"/>
              </a:spcBef>
            </a:pPr>
            <a:r>
              <a:rPr lang="en-US" sz="2911" spc="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END-TO-END MACHINE LEARNING PIPELINE BRIDGING RAW HISTO</a:t>
            </a:r>
            <a:r>
              <a:rPr lang="en-US" sz="2911" spc="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RICAL DATA </a:t>
            </a:r>
          </a:p>
          <a:p>
            <a:pPr algn="ctr">
              <a:lnSpc>
                <a:spcPts val="3056"/>
              </a:lnSpc>
              <a:spcBef>
                <a:spcPct val="0"/>
              </a:spcBef>
            </a:pPr>
            <a:r>
              <a:rPr lang="en-US" sz="2911" spc="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ACTIONABLE SPORTING INTELLIGENCE.</a:t>
            </a:r>
          </a:p>
          <a:p>
            <a:pPr algn="ctr">
              <a:lnSpc>
                <a:spcPts val="30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82533" y="-123877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530063" y="662797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347061" y="7725054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188572" y="8876797"/>
            <a:ext cx="314509" cy="448497"/>
          </a:xfrm>
          <a:custGeom>
            <a:avLst/>
            <a:gdLst/>
            <a:ahLst/>
            <a:cxnLst/>
            <a:rect r="r" b="b" t="t" l="l"/>
            <a:pathLst>
              <a:path h="448497" w="314509">
                <a:moveTo>
                  <a:pt x="0" y="0"/>
                </a:moveTo>
                <a:lnTo>
                  <a:pt x="314508" y="0"/>
                </a:lnTo>
                <a:lnTo>
                  <a:pt x="314508" y="448497"/>
                </a:lnTo>
                <a:lnTo>
                  <a:pt x="0" y="448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89398" y="5277505"/>
            <a:ext cx="5831575" cy="4435744"/>
          </a:xfrm>
          <a:custGeom>
            <a:avLst/>
            <a:gdLst/>
            <a:ahLst/>
            <a:cxnLst/>
            <a:rect r="r" b="b" t="t" l="l"/>
            <a:pathLst>
              <a:path h="4435744" w="5831575">
                <a:moveTo>
                  <a:pt x="0" y="0"/>
                </a:moveTo>
                <a:lnTo>
                  <a:pt x="5831575" y="0"/>
                </a:lnTo>
                <a:lnTo>
                  <a:pt x="5831575" y="4435744"/>
                </a:lnTo>
                <a:lnTo>
                  <a:pt x="0" y="44357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379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05795"/>
            <a:ext cx="6264879" cy="159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PROBLEM AND 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5019" y="3016981"/>
            <a:ext cx="14286558" cy="191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rans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 d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cisions i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nv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inancial ris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is o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ft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bjec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football transfer market is inherently highly skewed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Accurate, data-driven valuations are critical for modern club strategy, contract negotiations, and adhering to financial fair play regulations.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6538" y="2595336"/>
            <a:ext cx="4747638" cy="35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Why this problem matters: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51039" y="5813396"/>
            <a:ext cx="9499331" cy="9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regre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sion model to estimate market value from historical player data.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52230" y="5328123"/>
            <a:ext cx="4747638" cy="35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52230" y="7514427"/>
            <a:ext cx="4747638" cy="35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Evaluation targets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51039" y="7914109"/>
            <a:ext cx="9499331" cy="9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R2 (explained v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ariance)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MAE in EUR (real monetary error)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97619" y="-2850415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055452" y="6577855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386106" y="-1859520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56343" y="8948229"/>
            <a:ext cx="824110" cy="310071"/>
          </a:xfrm>
          <a:custGeom>
            <a:avLst/>
            <a:gdLst/>
            <a:ahLst/>
            <a:cxnLst/>
            <a:rect r="r" b="b" t="t" l="l"/>
            <a:pathLst>
              <a:path h="310071" w="824110">
                <a:moveTo>
                  <a:pt x="0" y="0"/>
                </a:moveTo>
                <a:lnTo>
                  <a:pt x="824109" y="0"/>
                </a:lnTo>
                <a:lnTo>
                  <a:pt x="824109" y="310071"/>
                </a:lnTo>
                <a:lnTo>
                  <a:pt x="0" y="31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3215" y="613234"/>
            <a:ext cx="11304404" cy="81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DATA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5021" y="1989374"/>
            <a:ext cx="8840227" cy="1198106"/>
            <a:chOff x="0" y="0"/>
            <a:chExt cx="11786969" cy="159747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8575"/>
              <a:ext cx="7200280" cy="53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4"/>
                </a:lnSpc>
              </a:pPr>
              <a:r>
                <a:rPr lang="en-US" sz="2842" b="true">
                  <a:solidFill>
                    <a:srgbClr val="5271FF"/>
                  </a:solidFill>
                  <a:latin typeface="Raleway Ultra-Bold"/>
                  <a:ea typeface="Raleway Ultra-Bold"/>
                  <a:cs typeface="Raleway Ultra-Bold"/>
                  <a:sym typeface="Raleway Ultra-Bold"/>
                </a:rPr>
                <a:t>Dataset source: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80520" y="794018"/>
              <a:ext cx="11406449" cy="803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4"/>
                </a:lnSpc>
                <a:spcBef>
                  <a:spcPct val="0"/>
                </a:spcBef>
              </a:pPr>
              <a:r>
                <a:rPr lang="en-US" sz="2047" spc="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Kaggl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cores</a:t>
              </a:r>
            </a:p>
            <a:p>
              <a:pPr algn="l" marL="0" indent="0" lvl="0">
                <a:lnSpc>
                  <a:spcPts val="2374"/>
                </a:lnSpc>
                <a:spcBef>
                  <a:spcPct val="0"/>
                </a:spcBef>
              </a:pP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ttp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s://www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k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gle.com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set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s/d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cariboo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er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lang="en-US" sz="2047" spc="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5021" y="3847506"/>
            <a:ext cx="13380133" cy="2880919"/>
            <a:chOff x="0" y="0"/>
            <a:chExt cx="17840177" cy="384122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52208" y="781632"/>
              <a:ext cx="9558204" cy="803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42035" indent="-221017" lvl="1">
                <a:lnSpc>
                  <a:spcPts val="2374"/>
                </a:lnSpc>
                <a:buFont typeface="Arial"/>
                <a:buChar char="•"/>
              </a:pPr>
              <a:r>
                <a:rPr lang="en-US" sz="2047" spc="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316,103 rows</a:t>
              </a:r>
            </a:p>
            <a:p>
              <a:pPr algn="l" marL="442035" indent="-221017" lvl="1">
                <a:lnSpc>
                  <a:spcPts val="2374"/>
                </a:lnSpc>
                <a:buFont typeface="Arial"/>
                <a:buChar char="•"/>
              </a:pPr>
              <a:r>
                <a:rPr lang="en-US" sz="2047" spc="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Period: 2003 to 2026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8575"/>
              <a:ext cx="7200280" cy="53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4"/>
                </a:lnSpc>
              </a:pPr>
              <a:r>
                <a:rPr lang="en-US" sz="2842" b="true">
                  <a:solidFill>
                    <a:srgbClr val="5271FF"/>
                  </a:solidFill>
                  <a:latin typeface="Raleway Ultra-Bold"/>
                  <a:ea typeface="Raleway Ultra-Bold"/>
                  <a:cs typeface="Raleway Ultra-Bold"/>
                  <a:sym typeface="Raleway Ultra-Bold"/>
                </a:rPr>
                <a:t>Data Scope: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487066" y="1816220"/>
              <a:ext cx="5246600" cy="2025006"/>
            </a:xfrm>
            <a:custGeom>
              <a:avLst/>
              <a:gdLst/>
              <a:ahLst/>
              <a:cxnLst/>
              <a:rect r="r" b="b" t="t" l="l"/>
              <a:pathLst>
                <a:path h="2025006" w="5246600">
                  <a:moveTo>
                    <a:pt x="0" y="0"/>
                  </a:moveTo>
                  <a:lnTo>
                    <a:pt x="5246600" y="0"/>
                  </a:lnTo>
                  <a:lnTo>
                    <a:pt x="5246600" y="2025006"/>
                  </a:lnTo>
                  <a:lnTo>
                    <a:pt x="0" y="2025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287" t="-141666" r="-220153" b="-250641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653787" y="1816220"/>
              <a:ext cx="5147433" cy="2025006"/>
            </a:xfrm>
            <a:custGeom>
              <a:avLst/>
              <a:gdLst/>
              <a:ahLst/>
              <a:cxnLst/>
              <a:rect r="r" b="b" t="t" l="l"/>
              <a:pathLst>
                <a:path h="2025006" w="5147433">
                  <a:moveTo>
                    <a:pt x="0" y="0"/>
                  </a:moveTo>
                  <a:lnTo>
                    <a:pt x="5147433" y="0"/>
                  </a:lnTo>
                  <a:lnTo>
                    <a:pt x="5147433" y="2025006"/>
                  </a:lnTo>
                  <a:lnTo>
                    <a:pt x="0" y="2025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4619" t="-143225" r="-124619" b="-252258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725741" y="1816220"/>
              <a:ext cx="5114437" cy="2025006"/>
            </a:xfrm>
            <a:custGeom>
              <a:avLst/>
              <a:gdLst/>
              <a:ahLst/>
              <a:cxnLst/>
              <a:rect r="r" b="b" t="t" l="l"/>
              <a:pathLst>
                <a:path h="2025006" w="5114437">
                  <a:moveTo>
                    <a:pt x="0" y="0"/>
                  </a:moveTo>
                  <a:lnTo>
                    <a:pt x="5114436" y="0"/>
                  </a:lnTo>
                  <a:lnTo>
                    <a:pt x="5114436" y="2025006"/>
                  </a:lnTo>
                  <a:lnTo>
                    <a:pt x="0" y="2025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8426" t="-141666" r="-20812" b="-25064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9177" y="7388452"/>
            <a:ext cx="7168653" cy="1380544"/>
            <a:chOff x="0" y="0"/>
            <a:chExt cx="9558204" cy="184072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647236"/>
              <a:ext cx="9558204" cy="119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4"/>
                </a:lnSpc>
              </a:pPr>
            </a:p>
            <a:p>
              <a:pPr algn="l" marL="442035" indent="-221017" lvl="1">
                <a:lnSpc>
                  <a:spcPts val="2374"/>
                </a:lnSpc>
                <a:buFont typeface="Arial"/>
                <a:buChar char="•"/>
              </a:pPr>
              <a:r>
                <a:rPr lang="en-US" sz="2047" spc="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Time-based train/test split (about 90/10) to avoid temporal leakage.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8575"/>
              <a:ext cx="3447932" cy="534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4"/>
                </a:lnSpc>
              </a:pPr>
              <a:r>
                <a:rPr lang="en-US" sz="2842" b="true">
                  <a:solidFill>
                    <a:srgbClr val="5271FF"/>
                  </a:solidFill>
                  <a:latin typeface="Raleway Ultra-Bold"/>
                  <a:ea typeface="Raleway Ultra-Bold"/>
                  <a:cs typeface="Raleway Ultra-Bold"/>
                  <a:sym typeface="Raleway Ultra-Bold"/>
                </a:rPr>
                <a:t>Split strategy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82533" y="-123877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530063" y="662797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347061" y="7725054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188572" y="8876797"/>
            <a:ext cx="314509" cy="448497"/>
          </a:xfrm>
          <a:custGeom>
            <a:avLst/>
            <a:gdLst/>
            <a:ahLst/>
            <a:cxnLst/>
            <a:rect r="r" b="b" t="t" l="l"/>
            <a:pathLst>
              <a:path h="448497" w="314509">
                <a:moveTo>
                  <a:pt x="0" y="0"/>
                </a:moveTo>
                <a:lnTo>
                  <a:pt x="314508" y="0"/>
                </a:lnTo>
                <a:lnTo>
                  <a:pt x="314508" y="448497"/>
                </a:lnTo>
                <a:lnTo>
                  <a:pt x="0" y="448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05795"/>
            <a:ext cx="6264879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ML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6104" y="2198452"/>
            <a:ext cx="14286558" cy="1436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b="true" sz="2699" spc="1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Encoding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(high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cardinalit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ric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fea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s)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b="true" sz="2699" spc="1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One-Hot Encoding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cardinality categorical features)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b="true" sz="2699" spc="10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StandardScaler 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(numerical features)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6104" y="1732230"/>
            <a:ext cx="4747638" cy="35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6104" y="4045095"/>
            <a:ext cx="4747638" cy="35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Model training and tuning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6104" y="5881014"/>
            <a:ext cx="4747638" cy="35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6104" y="4511318"/>
            <a:ext cx="14286558" cy="9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Rid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ge, Lasso, Random Fo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t, XGBo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ost, LightGBM</a:t>
            </a:r>
          </a:p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ross-validation and hyperparameter search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6104" y="6318211"/>
            <a:ext cx="14286558" cy="4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3779"/>
              </a:lnSpc>
              <a:buFont typeface="Arial"/>
              <a:buChar char="•"/>
            </a:pPr>
            <a:r>
              <a:rPr lang="en-US" sz="2699" spc="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R2</a:t>
            </a:r>
            <a:r>
              <a:rPr lang="en-US" sz="2699" spc="1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RMSE, MAE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33219" y="-3382329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675426" y="7750722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8" y="0"/>
                </a:lnTo>
                <a:lnTo>
                  <a:pt x="92251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308870" y="-1949629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1"/>
                </a:lnTo>
                <a:lnTo>
                  <a:pt x="0" y="3719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5174" y="1921486"/>
            <a:ext cx="17357651" cy="6444028"/>
          </a:xfrm>
          <a:custGeom>
            <a:avLst/>
            <a:gdLst/>
            <a:ahLst/>
            <a:cxnLst/>
            <a:rect r="r" b="b" t="t" l="l"/>
            <a:pathLst>
              <a:path h="6444028" w="17357651">
                <a:moveTo>
                  <a:pt x="0" y="0"/>
                </a:moveTo>
                <a:lnTo>
                  <a:pt x="17357652" y="0"/>
                </a:lnTo>
                <a:lnTo>
                  <a:pt x="17357652" y="6444028"/>
                </a:lnTo>
                <a:lnTo>
                  <a:pt x="0" y="64440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8792" y="356054"/>
            <a:ext cx="14914241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MODEL COMPARISON AND SELECTION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33219" y="-3382329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675426" y="7750722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8" y="0"/>
                </a:lnTo>
                <a:lnTo>
                  <a:pt x="92251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308870" y="-1949629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1"/>
                </a:lnTo>
                <a:lnTo>
                  <a:pt x="0" y="371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8792" y="1343577"/>
            <a:ext cx="10372831" cy="6091609"/>
          </a:xfrm>
          <a:custGeom>
            <a:avLst/>
            <a:gdLst/>
            <a:ahLst/>
            <a:cxnLst/>
            <a:rect r="r" b="b" t="t" l="l"/>
            <a:pathLst>
              <a:path h="6091609" w="10372831">
                <a:moveTo>
                  <a:pt x="0" y="0"/>
                </a:moveTo>
                <a:lnTo>
                  <a:pt x="10372831" y="0"/>
                </a:lnTo>
                <a:lnTo>
                  <a:pt x="10372831" y="6091609"/>
                </a:lnTo>
                <a:lnTo>
                  <a:pt x="0" y="6091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58" r="0" b="-65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8792" y="356054"/>
            <a:ext cx="14914241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WHY BOOSTING WON?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4369" y="7741197"/>
            <a:ext cx="15781363" cy="184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435"/>
              </a:lnSpc>
              <a:buFont typeface="Arial"/>
              <a:buChar char="•"/>
            </a:pP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inea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odels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everely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erperf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 non-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inear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ies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435"/>
              </a:lnSpc>
            </a:pPr>
          </a:p>
          <a:p>
            <a:pPr algn="l" marL="453387" indent="-226693" lvl="1">
              <a:lnSpc>
                <a:spcPts val="2435"/>
              </a:lnSpc>
              <a:buFont typeface="Arial"/>
              <a:buChar char="•"/>
            </a:pP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valu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a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(p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~27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before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ing).</a:t>
            </a:r>
          </a:p>
          <a:p>
            <a:pPr algn="l">
              <a:lnSpc>
                <a:spcPts val="2435"/>
              </a:lnSpc>
            </a:pPr>
          </a:p>
          <a:p>
            <a:pPr algn="l" marL="453387" indent="-226693" lvl="1">
              <a:lnSpc>
                <a:spcPts val="2435"/>
              </a:lnSpc>
              <a:buFont typeface="Arial"/>
              <a:buChar char="•"/>
            </a:pP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XGBoo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lly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x, non-l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ns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ile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ly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 the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gh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xi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ded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torical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99" spc="8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82533" y="-123877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530063" y="662797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347061" y="7725054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188572" y="8876797"/>
            <a:ext cx="314509" cy="448497"/>
          </a:xfrm>
          <a:custGeom>
            <a:avLst/>
            <a:gdLst/>
            <a:ahLst/>
            <a:cxnLst/>
            <a:rect r="r" b="b" t="t" l="l"/>
            <a:pathLst>
              <a:path h="448497" w="314509">
                <a:moveTo>
                  <a:pt x="0" y="0"/>
                </a:moveTo>
                <a:lnTo>
                  <a:pt x="314508" y="0"/>
                </a:lnTo>
                <a:lnTo>
                  <a:pt x="314508" y="448497"/>
                </a:lnTo>
                <a:lnTo>
                  <a:pt x="0" y="448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5930" y="1525303"/>
            <a:ext cx="14498261" cy="7611587"/>
          </a:xfrm>
          <a:custGeom>
            <a:avLst/>
            <a:gdLst/>
            <a:ahLst/>
            <a:cxnLst/>
            <a:rect r="r" b="b" t="t" l="l"/>
            <a:pathLst>
              <a:path h="7611587" w="14498261">
                <a:moveTo>
                  <a:pt x="0" y="0"/>
                </a:moveTo>
                <a:lnTo>
                  <a:pt x="14498262" y="0"/>
                </a:lnTo>
                <a:lnTo>
                  <a:pt x="14498262" y="7611587"/>
                </a:lnTo>
                <a:lnTo>
                  <a:pt x="0" y="76115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7003" y="394675"/>
            <a:ext cx="9907989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DEPLOYED APPLICATION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33A8">
                <a:alpha val="100000"/>
              </a:srgbClr>
            </a:gs>
            <a:gs pos="100000">
              <a:srgbClr val="5271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274726" cy="2157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5172234" y="1028700"/>
            <a:ext cx="2087066" cy="2226204"/>
          </a:xfrm>
          <a:custGeom>
            <a:avLst/>
            <a:gdLst/>
            <a:ahLst/>
            <a:cxnLst/>
            <a:rect r="r" b="b" t="t" l="l"/>
            <a:pathLst>
              <a:path h="2226204" w="2087066">
                <a:moveTo>
                  <a:pt x="0" y="0"/>
                </a:moveTo>
                <a:lnTo>
                  <a:pt x="2087066" y="0"/>
                </a:lnTo>
                <a:lnTo>
                  <a:pt x="2087066" y="2226204"/>
                </a:lnTo>
                <a:lnTo>
                  <a:pt x="0" y="2226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8811" y="1465544"/>
            <a:ext cx="13262011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CONCLUSION AND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736" y="2685048"/>
            <a:ext cx="10694635" cy="475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3"/>
              </a:lnSpc>
              <a:spcBef>
                <a:spcPct val="0"/>
              </a:spcBef>
            </a:pPr>
            <a:r>
              <a:rPr lang="en-US" b="true" sz="2752" spc="1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Main tak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aways:</a:t>
            </a:r>
          </a:p>
          <a:p>
            <a:pPr algn="l" marL="594348" indent="-297174" lvl="1">
              <a:lnSpc>
                <a:spcPts val="3193"/>
              </a:lnSpc>
              <a:buFont typeface="Arial"/>
              <a:buChar char="•"/>
            </a:pP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XGBoo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o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rall predi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formance.</a:t>
            </a:r>
          </a:p>
          <a:p>
            <a:pPr algn="l" marL="594348" indent="-297174" lvl="1">
              <a:lnSpc>
                <a:spcPts val="3193"/>
              </a:lnSpc>
              <a:buFont typeface="Arial"/>
              <a:buChar char="•"/>
            </a:pP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Time-b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-value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0" indent="0" lvl="0">
              <a:lnSpc>
                <a:spcPts val="319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93"/>
              </a:lnSpc>
              <a:spcBef>
                <a:spcPct val="0"/>
              </a:spcBef>
            </a:pP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Curr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 limit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ati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algn="l" marL="594348" indent="-297174" lvl="1">
              <a:lnSpc>
                <a:spcPts val="3193"/>
              </a:lnSpc>
              <a:buFont typeface="Arial"/>
              <a:buChar char="•"/>
            </a:pP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 contra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ct,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nj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y,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riab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594348" indent="-297174" lvl="1">
              <a:lnSpc>
                <a:spcPts val="3193"/>
              </a:lnSpc>
              <a:buFont typeface="Arial"/>
              <a:buChar char="•"/>
            </a:pP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rk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can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quick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0" indent="0" lvl="0">
              <a:lnSpc>
                <a:spcPts val="319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93"/>
              </a:lnSpc>
              <a:spcBef>
                <a:spcPct val="0"/>
              </a:spcBef>
            </a:pP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Next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752" spc="11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steps:</a:t>
            </a:r>
          </a:p>
          <a:p>
            <a:pPr algn="l" marL="594348" indent="-297174" lvl="1">
              <a:lnSpc>
                <a:spcPts val="3193"/>
              </a:lnSpc>
              <a:buFont typeface="Arial"/>
              <a:buChar char="•"/>
            </a:pP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sfer-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l" marL="594348" indent="-297174" lvl="1">
              <a:lnSpc>
                <a:spcPts val="3193"/>
              </a:lnSpc>
              <a:buFont typeface="Arial"/>
              <a:buChar char="•"/>
            </a:pP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Retra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ically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seaso</a:t>
            </a:r>
            <a:r>
              <a:rPr lang="en-US" sz="2752" spc="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ns (Automation)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90108"/>
            <a:ext cx="9144000" cy="10467217"/>
            <a:chOff x="0" y="0"/>
            <a:chExt cx="2408296" cy="2756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56798"/>
            </a:xfrm>
            <a:custGeom>
              <a:avLst/>
              <a:gdLst/>
              <a:ahLst/>
              <a:cxnLst/>
              <a:rect r="r" b="b" t="t" l="l"/>
              <a:pathLst>
                <a:path h="2756798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56798"/>
                  </a:lnTo>
                  <a:lnTo>
                    <a:pt x="0" y="2756798"/>
                  </a:lnTo>
                  <a:close/>
                </a:path>
              </a:pathLst>
            </a:custGeom>
            <a:gradFill rotWithShape="true">
              <a:gsLst>
                <a:gs pos="0">
                  <a:srgbClr val="1933A8">
                    <a:alpha val="100000"/>
                  </a:srgbClr>
                </a:gs>
                <a:gs pos="100000">
                  <a:srgbClr val="5271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408296" cy="274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98116" y="3946725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174467" y="-880610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8" y="0"/>
                </a:lnTo>
                <a:lnTo>
                  <a:pt x="92251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6483545" cy="3287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83545" cy="3287431"/>
            </a:xfrm>
            <a:custGeom>
              <a:avLst/>
              <a:gdLst/>
              <a:ahLst/>
              <a:cxnLst/>
              <a:rect r="r" b="b" t="t" l="l"/>
              <a:pathLst>
                <a:path h="3287431" w="6483545">
                  <a:moveTo>
                    <a:pt x="0" y="0"/>
                  </a:moveTo>
                  <a:lnTo>
                    <a:pt x="6483545" y="0"/>
                  </a:lnTo>
                  <a:lnTo>
                    <a:pt x="6483545" y="3287431"/>
                  </a:lnTo>
                  <a:lnTo>
                    <a:pt x="0" y="32874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6483545" cy="3277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544805" y="4398497"/>
            <a:ext cx="9198390" cy="1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39"/>
              </a:lnSpc>
            </a:pPr>
            <a:r>
              <a:rPr lang="en-US" sz="11941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THANK 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5172234" y="1028700"/>
            <a:ext cx="2087066" cy="2226204"/>
          </a:xfrm>
          <a:custGeom>
            <a:avLst/>
            <a:gdLst/>
            <a:ahLst/>
            <a:cxnLst/>
            <a:rect r="r" b="b" t="t" l="l"/>
            <a:pathLst>
              <a:path h="2226204" w="2087066">
                <a:moveTo>
                  <a:pt x="0" y="0"/>
                </a:moveTo>
                <a:lnTo>
                  <a:pt x="2087066" y="0"/>
                </a:lnTo>
                <a:lnTo>
                  <a:pt x="2087066" y="2226204"/>
                </a:lnTo>
                <a:lnTo>
                  <a:pt x="0" y="2226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DAHGXkwpixw</dc:identifier>
  <dcterms:modified xsi:type="dcterms:W3CDTF">2011-08-01T06:04:30Z</dcterms:modified>
  <cp:revision>1</cp:revision>
  <dc:title>An end-to-end machine learning pipeline bridging raw historical data and actionable sporting intelligence.</dc:title>
</cp:coreProperties>
</file>